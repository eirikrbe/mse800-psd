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042870-11E9-485A-AE41-9C1D4B7F87C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 rot="5400000">
            <a:off x="2309400" y="-251640"/>
            <a:ext cx="4525560" cy="822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48D964-D631-4A2A-8B1A-0F13EF077AC2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 rot="5400000">
            <a:off x="4732560" y="2171520"/>
            <a:ext cx="58510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 rot="5400000">
            <a:off x="541800" y="190080"/>
            <a:ext cx="5851080" cy="601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97F93E1-A9AD-490B-89AB-BA87DA49E64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D6605A-A73D-44DB-BF74-EEFB1AB5399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B3BE1F-F7D5-4F10-ABE4-E533DF12D815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>
              <a:buNone/>
            </a:pPr>
            <a:r>
              <a:rPr lang="en-US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5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5241CE3-9940-4F22-A993-D439400C3FC8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0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C2D1C20-48B2-4640-8096-0F875F33EAE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F6CCFFF-DEBD-477E-A318-B78699DAE62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4D5CAFF-5E50-4A71-9F7C-2B2B060EE37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55BF47-B57E-4EA0-B6A7-A9F05F3B404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0DEE9AA-5FAD-49AC-9CDA-FF8D922EAAC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minikube.sigs.k8s.io/docs/start/" TargetMode="External"/><Relationship Id="rId2" Type="http://schemas.openxmlformats.org/officeDocument/2006/relationships/hyperlink" Target="https://drive.google.com/file/d/1Y0nNRFG9s1SspdZlYvhHS9EjCNfOUaLL/view?usp=drive_link" TargetMode="External"/><Relationship Id="rId3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84;p1"/>
          <p:cNvSpPr/>
          <p:nvPr/>
        </p:nvSpPr>
        <p:spPr>
          <a:xfrm>
            <a:off x="8961120" y="548640"/>
            <a:ext cx="1919880" cy="1919880"/>
          </a:xfrm>
          <a:prstGeom prst="ellipse">
            <a:avLst/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85;p1"/>
          <p:cNvSpPr/>
          <p:nvPr/>
        </p:nvSpPr>
        <p:spPr>
          <a:xfrm>
            <a:off x="9875520" y="1280160"/>
            <a:ext cx="1279800" cy="1279800"/>
          </a:xfrm>
          <a:prstGeom prst="ellipse">
            <a:avLst/>
          </a:prstGeom>
          <a:solidFill>
            <a:srgbClr val="2661a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86;p1"/>
          <p:cNvSpPr/>
          <p:nvPr/>
        </p:nvSpPr>
        <p:spPr>
          <a:xfrm>
            <a:off x="7955280" y="1554480"/>
            <a:ext cx="1005480" cy="1005480"/>
          </a:xfrm>
          <a:prstGeom prst="ellipse">
            <a:avLst/>
          </a:prstGeom>
          <a:solidFill>
            <a:srgbClr val="f39c1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87;p1"/>
          <p:cNvSpPr/>
          <p:nvPr/>
        </p:nvSpPr>
        <p:spPr>
          <a:xfrm>
            <a:off x="640080" y="914400"/>
            <a:ext cx="7772040" cy="120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Kubernetes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From containerization to orchestration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88;p1"/>
          <p:cNvSpPr/>
          <p:nvPr/>
        </p:nvSpPr>
        <p:spPr>
          <a:xfrm>
            <a:off x="794520" y="2716560"/>
            <a:ext cx="1545480" cy="8499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67680" dir="5400000" dist="3888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54440" rIns="154440" tIns="77400" bIns="77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3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</a:t>
            </a:r>
            <a:endParaRPr lang="en-US" sz="2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89;p1"/>
          <p:cNvSpPr/>
          <p:nvPr/>
        </p:nvSpPr>
        <p:spPr>
          <a:xfrm>
            <a:off x="2804400" y="2716560"/>
            <a:ext cx="1545480" cy="849960"/>
          </a:xfrm>
          <a:prstGeom prst="roundRect">
            <a:avLst>
              <a:gd name="adj" fmla="val 16667"/>
            </a:avLst>
          </a:prstGeom>
          <a:solidFill>
            <a:srgbClr val="2661a4"/>
          </a:solidFill>
          <a:ln w="0">
            <a:noFill/>
          </a:ln>
          <a:effectLst>
            <a:outerShdw blurRad="67680" dir="5400000" dist="3888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54440" rIns="154440" tIns="77400" bIns="77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3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Code</a:t>
            </a:r>
            <a:endParaRPr lang="en-US" sz="23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90;p1"/>
          <p:cNvSpPr/>
          <p:nvPr/>
        </p:nvSpPr>
        <p:spPr>
          <a:xfrm>
            <a:off x="4814280" y="2716560"/>
            <a:ext cx="1545480" cy="84996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0">
            <a:noFill/>
          </a:ln>
          <a:effectLst>
            <a:outerShdw blurRad="67680" dir="5400000" dist="3888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54440" rIns="154440" tIns="77400" bIns="77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36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Deps</a:t>
            </a:r>
            <a:endParaRPr lang="en-US" sz="2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91;p1"/>
          <p:cNvSpPr/>
          <p:nvPr/>
        </p:nvSpPr>
        <p:spPr>
          <a:xfrm>
            <a:off x="640080" y="4107960"/>
            <a:ext cx="6493320" cy="154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125">
            <a:solidFill>
              <a:srgbClr val="b4becd"/>
            </a:solidFill>
            <a:round/>
          </a:ln>
          <a:effectLst>
            <a:outerShdw blurRad="67680" dir="5400000" dist="3888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54440" rIns="154440" tIns="77400" bIns="77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3040" b="1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Container = App + Libraries + Runtime</a:t>
            </a:r>
            <a:endParaRPr lang="en-US" sz="30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92;p1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93;p1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98;p2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99;p2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00;p2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What we will cover in this presentation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01;p2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02;p2"/>
          <p:cNvSpPr/>
          <p:nvPr/>
        </p:nvSpPr>
        <p:spPr>
          <a:xfrm>
            <a:off x="731520" y="1280160"/>
            <a:ext cx="5486040" cy="328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What containerization is and why it matters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Docker and other container runtimes/tools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Limitations of Docker on its own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Why Kubernetes is needed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Components of Kubernetes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How Kubernetes works in a cluster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0000"/>
              </a:lnSpc>
              <a:spcBef>
                <a:spcPts val="799"/>
              </a:spcBef>
              <a:tabLst>
                <a:tab algn="l" pos="0"/>
              </a:tabLst>
            </a:pPr>
            <a:r>
              <a:rPr lang="en-US" sz="22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Live demo ideas and a class activity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03;p2"/>
          <p:cNvSpPr/>
          <p:nvPr/>
        </p:nvSpPr>
        <p:spPr>
          <a:xfrm>
            <a:off x="6675120" y="1371600"/>
            <a:ext cx="475452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Big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Containers package software; Kubernetes runs and manages those containers at scale.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04;p2"/>
          <p:cNvSpPr/>
          <p:nvPr/>
        </p:nvSpPr>
        <p:spPr>
          <a:xfrm>
            <a:off x="6675120" y="2560320"/>
            <a:ext cx="4754520" cy="10969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Outcome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By the end, we will understand when Docker is enough and when Kubernetes helps.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05;p2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06;p2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111;p3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12;p3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Containerization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13;p3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Run an application with everything it needs inside one portable unit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14;p3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15;p3"/>
          <p:cNvSpPr/>
          <p:nvPr/>
        </p:nvSpPr>
        <p:spPr>
          <a:xfrm>
            <a:off x="548640" y="1188720"/>
            <a:ext cx="530316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What it 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Containerization packages the application code, runtime, libraries, and configuration so it can run the same way on a laptop, server, or cloud machine.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16;p3"/>
          <p:cNvSpPr/>
          <p:nvPr/>
        </p:nvSpPr>
        <p:spPr>
          <a:xfrm>
            <a:off x="548640" y="3246120"/>
            <a:ext cx="5303160" cy="20113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Benefits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• Portability across environments</a:t>
            </a:r>
            <a:br>
              <a:rPr sz="1600"/>
            </a:b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• Faster startup than virtual machines</a:t>
            </a:r>
            <a:br>
              <a:rPr sz="1600"/>
            </a:b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• Better resource usage</a:t>
            </a:r>
            <a:br>
              <a:rPr sz="1600"/>
            </a:b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• Easier testing and deployment</a:t>
            </a:r>
            <a:br>
              <a:rPr sz="1600"/>
            </a:b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• Isolation between applications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17;p3"/>
          <p:cNvSpPr/>
          <p:nvPr/>
        </p:nvSpPr>
        <p:spPr>
          <a:xfrm>
            <a:off x="6858000" y="1463040"/>
            <a:ext cx="3931560" cy="456840"/>
          </a:xfrm>
          <a:prstGeom prst="roundRect">
            <a:avLst>
              <a:gd name="adj" fmla="val 16667"/>
            </a:avLst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Host OS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18;p3"/>
          <p:cNvSpPr/>
          <p:nvPr/>
        </p:nvSpPr>
        <p:spPr>
          <a:xfrm>
            <a:off x="6858000" y="2194560"/>
            <a:ext cx="1096920" cy="59400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A + deps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19;p3"/>
          <p:cNvSpPr/>
          <p:nvPr/>
        </p:nvSpPr>
        <p:spPr>
          <a:xfrm>
            <a:off x="8138160" y="2194560"/>
            <a:ext cx="1096920" cy="594000"/>
          </a:xfrm>
          <a:prstGeom prst="roundRect">
            <a:avLst>
              <a:gd name="adj" fmla="val 16667"/>
            </a:avLst>
          </a:prstGeom>
          <a:solidFill>
            <a:srgbClr val="2661a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B + deps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20;p3"/>
          <p:cNvSpPr/>
          <p:nvPr/>
        </p:nvSpPr>
        <p:spPr>
          <a:xfrm>
            <a:off x="9418320" y="2194560"/>
            <a:ext cx="1096920" cy="59400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App C + deps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21;p3"/>
          <p:cNvSpPr/>
          <p:nvPr/>
        </p:nvSpPr>
        <p:spPr>
          <a:xfrm>
            <a:off x="6675120" y="3063240"/>
            <a:ext cx="4480200" cy="21027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Why developers like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The same container image can move from development to testing to production with fewer surprises. That reduces the classic “works on my machine” problem.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22;p3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Google Shape;123;p3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128;p4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29;p4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Docker and Other Container 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Google Shape;130;p4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Popular tools in the container ecosystem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31;p4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32;p4"/>
          <p:cNvSpPr/>
          <p:nvPr/>
        </p:nvSpPr>
        <p:spPr>
          <a:xfrm>
            <a:off x="640080" y="1371600"/>
            <a:ext cx="51202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The most common developer platform for building, packaging, and running containers.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33;p4"/>
          <p:cNvSpPr/>
          <p:nvPr/>
        </p:nvSpPr>
        <p:spPr>
          <a:xfrm>
            <a:off x="6309360" y="1371600"/>
            <a:ext cx="51202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containerd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 lightweight runtime used under the hood by many platforms, including Kubernetes.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34;p4"/>
          <p:cNvSpPr/>
          <p:nvPr/>
        </p:nvSpPr>
        <p:spPr>
          <a:xfrm>
            <a:off x="640080" y="3063240"/>
            <a:ext cx="51202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Podman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 Docker-compatible container tool that can run without a central daemon.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35;p4"/>
          <p:cNvSpPr/>
          <p:nvPr/>
        </p:nvSpPr>
        <p:spPr>
          <a:xfrm>
            <a:off x="6309360" y="3063240"/>
            <a:ext cx="51202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CRI-O / LXC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Other runtime options and container technologies used in specific environments.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36;p4"/>
          <p:cNvSpPr/>
          <p:nvPr/>
        </p:nvSpPr>
        <p:spPr>
          <a:xfrm>
            <a:off x="731520" y="4846320"/>
            <a:ext cx="10789560" cy="914040"/>
          </a:xfrm>
          <a:prstGeom prst="roundRect">
            <a:avLst>
              <a:gd name="adj" fmla="val 16667"/>
            </a:avLst>
          </a:prstGeom>
          <a:solidFill>
            <a:srgbClr val="e8f4f3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Key message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Docker is an excellent starting point for containers. Kubernetes becomes useful when many containers need to be scheduled, updated, connected, and recovered automatically.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37;p4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38;p4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43;p5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144;p5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Limitations of Docker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45;p5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What becomes difficult when systems grow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46;p5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47;p5"/>
          <p:cNvSpPr/>
          <p:nvPr/>
        </p:nvSpPr>
        <p:spPr>
          <a:xfrm>
            <a:off x="640080" y="123444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Single-host focus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3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Docker alone is mostly about running containers on one machine or a few machines that you manage manually.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48;p5"/>
          <p:cNvSpPr/>
          <p:nvPr/>
        </p:nvSpPr>
        <p:spPr>
          <a:xfrm>
            <a:off x="640080" y="235008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Scaling is manual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3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You have to decide where each container runs and how to add more copies.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49;p5"/>
          <p:cNvSpPr/>
          <p:nvPr/>
        </p:nvSpPr>
        <p:spPr>
          <a:xfrm>
            <a:off x="640080" y="346572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Self-healing is limited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3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If a container crashes, Docker does not manage the full application state across the cluster.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50;p5"/>
          <p:cNvSpPr/>
          <p:nvPr/>
        </p:nvSpPr>
        <p:spPr>
          <a:xfrm>
            <a:off x="640080" y="4581000"/>
            <a:ext cx="5486040" cy="1005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7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Networking and updates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3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Load balancing, service discovery, rolling updates, and secret management need more tooling.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51;p5"/>
          <p:cNvSpPr/>
          <p:nvPr/>
        </p:nvSpPr>
        <p:spPr>
          <a:xfrm>
            <a:off x="6492240" y="1280160"/>
            <a:ext cx="4845960" cy="19198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Problem in one sentence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7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Docker can run containers well, but large systems need automation to keep everything available, balanced, and updated.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52;p5"/>
          <p:cNvSpPr/>
          <p:nvPr/>
        </p:nvSpPr>
        <p:spPr>
          <a:xfrm>
            <a:off x="6858000" y="3657600"/>
            <a:ext cx="1005480" cy="502560"/>
          </a:xfrm>
          <a:prstGeom prst="roundRect">
            <a:avLst>
              <a:gd name="adj" fmla="val 16667"/>
            </a:avLst>
          </a:prstGeom>
          <a:solidFill>
            <a:srgbClr val="e74c3c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Crash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53;p5"/>
          <p:cNvSpPr/>
          <p:nvPr/>
        </p:nvSpPr>
        <p:spPr>
          <a:xfrm>
            <a:off x="8138160" y="3657600"/>
            <a:ext cx="1005480" cy="50256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Restart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54;p5"/>
          <p:cNvSpPr/>
          <p:nvPr/>
        </p:nvSpPr>
        <p:spPr>
          <a:xfrm>
            <a:off x="9418320" y="3657600"/>
            <a:ext cx="1371240" cy="502560"/>
          </a:xfrm>
          <a:prstGeom prst="roundRect">
            <a:avLst>
              <a:gd name="adj" fmla="val 16667"/>
            </a:avLst>
          </a:prstGeom>
          <a:solidFill>
            <a:srgbClr val="2661a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Manual fix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55;p5"/>
          <p:cNvSpPr/>
          <p:nvPr/>
        </p:nvSpPr>
        <p:spPr>
          <a:xfrm>
            <a:off x="6583680" y="4480560"/>
            <a:ext cx="45716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For small demos Docker is enough. For production systems, orchestration becomes essential.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Google Shape;156;p5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157;p5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62;p6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Google Shape;163;p6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Kubernetes?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Google Shape;164;p6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The orchestration layer for containers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165;p6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166;p6"/>
          <p:cNvSpPr/>
          <p:nvPr/>
        </p:nvSpPr>
        <p:spPr>
          <a:xfrm>
            <a:off x="640080" y="1280160"/>
            <a:ext cx="551160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0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Core purpose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Kubernetes manages containerized applications across many machines so you can scale, recover, and update them consistently.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167;p6"/>
          <p:cNvSpPr/>
          <p:nvPr/>
        </p:nvSpPr>
        <p:spPr>
          <a:xfrm>
            <a:off x="3291840" y="2903040"/>
            <a:ext cx="274284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Smart Placement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Automatically runs applications on the best server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168;p6"/>
          <p:cNvSpPr/>
          <p:nvPr/>
        </p:nvSpPr>
        <p:spPr>
          <a:xfrm>
            <a:off x="640080" y="2903400"/>
            <a:ext cx="24361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Scaling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Adds or removes replicas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169;p6"/>
          <p:cNvSpPr/>
          <p:nvPr/>
        </p:nvSpPr>
        <p:spPr>
          <a:xfrm>
            <a:off x="640080" y="5212080"/>
            <a:ext cx="24361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Automatic Recovery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Restarts failed applications automatically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170;p6"/>
          <p:cNvSpPr/>
          <p:nvPr/>
        </p:nvSpPr>
        <p:spPr>
          <a:xfrm>
            <a:off x="3291840" y="5212080"/>
            <a:ext cx="26917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Service discovery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Applications find and connect to each other automatically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171;p6"/>
          <p:cNvSpPr/>
          <p:nvPr/>
        </p:nvSpPr>
        <p:spPr>
          <a:xfrm>
            <a:off x="640080" y="4069080"/>
            <a:ext cx="24361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Zero-Downtime Updates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Deploy new versions without interrupting users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172;p6"/>
          <p:cNvSpPr/>
          <p:nvPr/>
        </p:nvSpPr>
        <p:spPr>
          <a:xfrm>
            <a:off x="3291840" y="4057560"/>
            <a:ext cx="2691720" cy="9140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Centralized Configuration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Manage settings and secrets securely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Google Shape;173;p6"/>
          <p:cNvSpPr/>
          <p:nvPr/>
        </p:nvSpPr>
        <p:spPr>
          <a:xfrm>
            <a:off x="6492240" y="1280160"/>
            <a:ext cx="4937400" cy="1371240"/>
          </a:xfrm>
          <a:prstGeom prst="roundRect">
            <a:avLst>
              <a:gd name="adj" fmla="val 16667"/>
            </a:avLst>
          </a:prstGeom>
          <a:solidFill>
            <a:srgbClr val="e8f4f3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Simple comparison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Docker: run containers. Kubernetes: run containers with rules, automation, and resilience.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Google Shape;174;p6"/>
          <p:cNvSpPr/>
          <p:nvPr/>
        </p:nvSpPr>
        <p:spPr>
          <a:xfrm>
            <a:off x="6492240" y="3355920"/>
            <a:ext cx="4937400" cy="18284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Good mental model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6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Think of Kubernetes as the operating system for a cluster. It continuously tries to make reality match the desired state you declare.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175;p6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176;p6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81;g3e8a9c24ba8_0_10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182;g3e8a9c24ba8_0_10"/>
          <p:cNvSpPr/>
          <p:nvPr/>
        </p:nvSpPr>
        <p:spPr>
          <a:xfrm>
            <a:off x="502920" y="164520"/>
            <a:ext cx="98751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Kubernetes Core Concepts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183;g3e8a9c24ba8_0_10"/>
          <p:cNvSpPr/>
          <p:nvPr/>
        </p:nvSpPr>
        <p:spPr>
          <a:xfrm>
            <a:off x="502920" y="548640"/>
            <a:ext cx="107895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184;g3e8a9c24ba8_0_10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185;g3e8a9c24ba8_0_10"/>
          <p:cNvSpPr/>
          <p:nvPr/>
        </p:nvSpPr>
        <p:spPr>
          <a:xfrm>
            <a:off x="4265280" y="1623960"/>
            <a:ext cx="3233520" cy="1522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Node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 physical or virtual machine that provides CPU, memory, and storage for running pods.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186;g3e8a9c24ba8_0_10"/>
          <p:cNvSpPr/>
          <p:nvPr/>
        </p:nvSpPr>
        <p:spPr>
          <a:xfrm>
            <a:off x="829440" y="1600200"/>
            <a:ext cx="3178080" cy="1522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Cluster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A group of nodes managed by Kubernetes that work together to run applications.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187;g3e8a9c24ba8_0_10"/>
          <p:cNvSpPr/>
          <p:nvPr/>
        </p:nvSpPr>
        <p:spPr>
          <a:xfrm>
            <a:off x="7751880" y="3362040"/>
            <a:ext cx="3615120" cy="14659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Stable access point and load balancing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188;g3e8a9c24ba8_0_10"/>
          <p:cNvSpPr/>
          <p:nvPr/>
        </p:nvSpPr>
        <p:spPr>
          <a:xfrm>
            <a:off x="829440" y="3429000"/>
            <a:ext cx="3178080" cy="138816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Control Plane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The brain of Kubernetes that schedules workloads, monitors the cluster, and maintains the desired state.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189;g3e8a9c24ba8_0_10"/>
          <p:cNvSpPr/>
          <p:nvPr/>
        </p:nvSpPr>
        <p:spPr>
          <a:xfrm>
            <a:off x="7755840" y="1623600"/>
            <a:ext cx="3615120" cy="1522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Pod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The smallest deployable unit in Kubernetes. A pod contains one or more containers that share networking and storage.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Google Shape;190;g3e8a9c24ba8_0_10"/>
          <p:cNvSpPr/>
          <p:nvPr/>
        </p:nvSpPr>
        <p:spPr>
          <a:xfrm>
            <a:off x="4290840" y="3359520"/>
            <a:ext cx="3178080" cy="152208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15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Defines how an application should run, including the container image and the number of pod replicas.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Google Shape;191;g3e8a9c24ba8_0_10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192;g3e8a9c24ba8_0_10"/>
          <p:cNvSpPr/>
          <p:nvPr/>
        </p:nvSpPr>
        <p:spPr>
          <a:xfrm>
            <a:off x="457200" y="6556320"/>
            <a:ext cx="9143640" cy="2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97;p7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Google Shape;198;p7"/>
          <p:cNvSpPr/>
          <p:nvPr/>
        </p:nvSpPr>
        <p:spPr>
          <a:xfrm>
            <a:off x="502920" y="164520"/>
            <a:ext cx="98751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How Kubernetes Works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Google Shape;199;p7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Desired state, control plane, and worker nodes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Google Shape;200;p7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Google Shape;201;p7"/>
          <p:cNvSpPr/>
          <p:nvPr/>
        </p:nvSpPr>
        <p:spPr>
          <a:xfrm>
            <a:off x="731520" y="1371600"/>
            <a:ext cx="2011320" cy="502560"/>
          </a:xfrm>
          <a:prstGeom prst="roundRect">
            <a:avLst>
              <a:gd name="adj" fmla="val 16667"/>
            </a:avLst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kubectl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202;p7"/>
          <p:cNvSpPr/>
          <p:nvPr/>
        </p:nvSpPr>
        <p:spPr>
          <a:xfrm>
            <a:off x="3017520" y="1371600"/>
            <a:ext cx="2559960" cy="502560"/>
          </a:xfrm>
          <a:prstGeom prst="roundRect">
            <a:avLst>
              <a:gd name="adj" fmla="val 16667"/>
            </a:avLst>
          </a:prstGeom>
          <a:solidFill>
            <a:srgbClr val="2661a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API Server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203;p7"/>
          <p:cNvSpPr/>
          <p:nvPr/>
        </p:nvSpPr>
        <p:spPr>
          <a:xfrm>
            <a:off x="5852160" y="137160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Scheduler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204;p7"/>
          <p:cNvSpPr/>
          <p:nvPr/>
        </p:nvSpPr>
        <p:spPr>
          <a:xfrm>
            <a:off x="8503920" y="1371600"/>
            <a:ext cx="2377080" cy="50256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Controller Manager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54" name="Google Shape;205;p7"/>
          <p:cNvCxnSpPr/>
          <p:nvPr/>
        </p:nvCxnSpPr>
        <p:spPr>
          <a:xfrm>
            <a:off x="2743200" y="1618200"/>
            <a:ext cx="228960" cy="360"/>
          </a:xfrm>
          <a:prstGeom prst="straightConnector1">
            <a:avLst/>
          </a:prstGeom>
          <a:ln w="19050">
            <a:solidFill>
              <a:srgbClr val="6c757d"/>
            </a:solidFill>
            <a:round/>
          </a:ln>
        </p:spPr>
      </p:cxnSp>
      <p:cxnSp>
        <p:nvCxnSpPr>
          <p:cNvPr id="155" name="Google Shape;206;p7"/>
          <p:cNvCxnSpPr/>
          <p:nvPr/>
        </p:nvCxnSpPr>
        <p:spPr>
          <a:xfrm>
            <a:off x="5532120" y="1618200"/>
            <a:ext cx="274680" cy="360"/>
          </a:xfrm>
          <a:prstGeom prst="straightConnector1">
            <a:avLst/>
          </a:prstGeom>
          <a:ln w="19050">
            <a:solidFill>
              <a:srgbClr val="6c757d"/>
            </a:solidFill>
            <a:round/>
          </a:ln>
        </p:spPr>
      </p:cxnSp>
      <p:cxnSp>
        <p:nvCxnSpPr>
          <p:cNvPr id="156" name="Google Shape;207;p7"/>
          <p:cNvCxnSpPr/>
          <p:nvPr/>
        </p:nvCxnSpPr>
        <p:spPr>
          <a:xfrm>
            <a:off x="8229600" y="1618200"/>
            <a:ext cx="228960" cy="360"/>
          </a:xfrm>
          <a:prstGeom prst="straightConnector1">
            <a:avLst/>
          </a:prstGeom>
          <a:ln w="19050">
            <a:solidFill>
              <a:srgbClr val="6c757d"/>
            </a:solidFill>
            <a:round/>
          </a:ln>
        </p:spPr>
      </p:cxnSp>
      <p:sp>
        <p:nvSpPr>
          <p:cNvPr id="157" name="Google Shape;208;p7"/>
          <p:cNvSpPr/>
          <p:nvPr/>
        </p:nvSpPr>
        <p:spPr>
          <a:xfrm>
            <a:off x="731520" y="2148840"/>
            <a:ext cx="10149480" cy="1096920"/>
          </a:xfrm>
          <a:prstGeom prst="roundRect">
            <a:avLst>
              <a:gd name="adj" fmla="val 16667"/>
            </a:avLst>
          </a:prstGeom>
          <a:solidFill>
            <a:srgbClr val="f5f8fc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Control plane keeps track of the desired state and decides what should happen.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209;p7"/>
          <p:cNvSpPr/>
          <p:nvPr/>
        </p:nvSpPr>
        <p:spPr>
          <a:xfrm>
            <a:off x="822960" y="3749040"/>
            <a:ext cx="27428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Worker Node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Pod(s) run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Container runtime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210;p7"/>
          <p:cNvSpPr/>
          <p:nvPr/>
        </p:nvSpPr>
        <p:spPr>
          <a:xfrm>
            <a:off x="4114800" y="3749040"/>
            <a:ext cx="27428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Worker Node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Pod(s) run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Container runtime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211;p7"/>
          <p:cNvSpPr/>
          <p:nvPr/>
        </p:nvSpPr>
        <p:spPr>
          <a:xfrm>
            <a:off x="7406640" y="3749040"/>
            <a:ext cx="274284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Worker Node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Pod(s) run here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6c757d"/>
                </a:solidFill>
                <a:effectLst/>
                <a:uFillTx/>
                <a:latin typeface="Calibri"/>
                <a:ea typeface="Calibri"/>
              </a:rPr>
              <a:t>Container runtime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212;p7"/>
          <p:cNvSpPr/>
          <p:nvPr/>
        </p:nvSpPr>
        <p:spPr>
          <a:xfrm>
            <a:off x="1097280" y="5715000"/>
            <a:ext cx="1919880" cy="411120"/>
          </a:xfrm>
          <a:prstGeom prst="roundRect">
            <a:avLst>
              <a:gd name="adj" fmla="val 16667"/>
            </a:avLst>
          </a:prstGeom>
          <a:solidFill>
            <a:srgbClr val="2661a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Service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213;p7"/>
          <p:cNvSpPr/>
          <p:nvPr/>
        </p:nvSpPr>
        <p:spPr>
          <a:xfrm>
            <a:off x="4434840" y="5715000"/>
            <a:ext cx="1919880" cy="41112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Deployment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214;p7"/>
          <p:cNvSpPr/>
          <p:nvPr/>
        </p:nvSpPr>
        <p:spPr>
          <a:xfrm>
            <a:off x="7726680" y="5715000"/>
            <a:ext cx="1919880" cy="411120"/>
          </a:xfrm>
          <a:prstGeom prst="roundRect">
            <a:avLst>
              <a:gd name="adj" fmla="val 16667"/>
            </a:avLst>
          </a:prstGeom>
          <a:solidFill>
            <a:srgbClr val="f39c12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ReplicaSet / Pods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215;p7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216;p7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221;p8"/>
          <p:cNvSpPr/>
          <p:nvPr/>
        </p:nvSpPr>
        <p:spPr>
          <a:xfrm>
            <a:off x="0" y="0"/>
            <a:ext cx="12191400" cy="91404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222;p8"/>
          <p:cNvSpPr/>
          <p:nvPr/>
        </p:nvSpPr>
        <p:spPr>
          <a:xfrm>
            <a:off x="502920" y="164520"/>
            <a:ext cx="987516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Demonstration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223;p8"/>
          <p:cNvSpPr/>
          <p:nvPr/>
        </p:nvSpPr>
        <p:spPr>
          <a:xfrm>
            <a:off x="502920" y="548640"/>
            <a:ext cx="107895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A simple live demo you can show in class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224;p8"/>
          <p:cNvSpPr/>
          <p:nvPr/>
        </p:nvSpPr>
        <p:spPr>
          <a:xfrm>
            <a:off x="10332720" y="210240"/>
            <a:ext cx="1371240" cy="383760"/>
          </a:xfrm>
          <a:prstGeom prst="roundRect">
            <a:avLst>
              <a:gd name="adj" fmla="val 16667"/>
            </a:avLst>
          </a:prstGeom>
          <a:solidFill>
            <a:srgbClr val="2a9d8f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227;p8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228;p8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Rectangle 228"/>
          <p:cNvSpPr/>
          <p:nvPr/>
        </p:nvSpPr>
        <p:spPr>
          <a:xfrm>
            <a:off x="984600" y="1468800"/>
            <a:ext cx="9372600" cy="2022840"/>
          </a:xfrm>
          <a:prstGeom prst="rect">
            <a:avLst/>
          </a:prstGeom>
          <a:solidFill>
            <a:srgbClr val="ffffff"/>
          </a:solidFill>
          <a:ln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3" name="Oval 229"/>
          <p:cNvSpPr/>
          <p:nvPr/>
        </p:nvSpPr>
        <p:spPr>
          <a:xfrm>
            <a:off x="1218960" y="1619640"/>
            <a:ext cx="609840" cy="437760"/>
          </a:xfrm>
          <a:prstGeom prst="ellipse">
            <a:avLst/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1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30"/>
          <p:cNvSpPr/>
          <p:nvPr/>
        </p:nvSpPr>
        <p:spPr>
          <a:xfrm>
            <a:off x="2273040" y="1674360"/>
            <a:ext cx="78498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Arial"/>
              </a:rPr>
              <a:t>Install minikube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31"/>
          <p:cNvSpPr/>
          <p:nvPr/>
        </p:nvSpPr>
        <p:spPr>
          <a:xfrm>
            <a:off x="1218960" y="2213640"/>
            <a:ext cx="890388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Arial"/>
              </a:rPr>
              <a:t>Pick your OS (Linux / macOS / Windows) on the official start page and follow the install + 'minikube start' steps.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Rounded Rectangle 232"/>
          <p:cNvSpPr/>
          <p:nvPr/>
        </p:nvSpPr>
        <p:spPr>
          <a:xfrm>
            <a:off x="1218960" y="2878920"/>
            <a:ext cx="8903880" cy="4618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6350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0600" bIns="3060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Calibri"/>
                <a:ea typeface="Arial"/>
              </a:rPr>
              <a:t>→  </a:t>
            </a:r>
            <a:r>
              <a:rPr lang="en-US" sz="1100" b="1" u="sng" strike="noStrike">
                <a:solidFill>
                  <a:srgbClr val="0000ff"/>
                </a:solidFill>
                <a:effectLst/>
                <a:uFillTx/>
                <a:latin typeface="Consolas"/>
                <a:ea typeface="Arial"/>
                <a:hlinkClick r:id="rId1"/>
              </a:rPr>
              <a:t>https://minikube.sigs.k8s.io/docs/start/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233"/>
          <p:cNvSpPr/>
          <p:nvPr/>
        </p:nvSpPr>
        <p:spPr>
          <a:xfrm>
            <a:off x="984600" y="3602160"/>
            <a:ext cx="9372600" cy="2022840"/>
          </a:xfrm>
          <a:prstGeom prst="rect">
            <a:avLst/>
          </a:prstGeom>
          <a:solidFill>
            <a:srgbClr val="ffffff"/>
          </a:solidFill>
          <a:ln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en-US" sz="140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78" name="Oval 234"/>
          <p:cNvSpPr/>
          <p:nvPr/>
        </p:nvSpPr>
        <p:spPr>
          <a:xfrm>
            <a:off x="1218960" y="3753000"/>
            <a:ext cx="609840" cy="361800"/>
          </a:xfrm>
          <a:prstGeom prst="ellipse">
            <a:avLst/>
          </a:prstGeom>
          <a:solidFill>
            <a:srgbClr val="2a9d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Arial"/>
              </a:rPr>
              <a:t>2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235"/>
          <p:cNvSpPr/>
          <p:nvPr/>
        </p:nvSpPr>
        <p:spPr>
          <a:xfrm>
            <a:off x="2273040" y="3807720"/>
            <a:ext cx="78498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5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Arial"/>
              </a:rPr>
              <a:t>Download the app  &amp;  follow the README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36"/>
          <p:cNvSpPr/>
          <p:nvPr/>
        </p:nvSpPr>
        <p:spPr>
          <a:xfrm>
            <a:off x="1218960" y="4347000"/>
            <a:ext cx="8903880" cy="33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11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Arial"/>
              </a:rPr>
              <a:t>Clone or download the learning-app repo, then follow k8s/README.md from this presentation — build the images, apply the manifests, port-forward, open the browser.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237"/>
          <p:cNvSpPr/>
          <p:nvPr/>
        </p:nvSpPr>
        <p:spPr>
          <a:xfrm>
            <a:off x="1218960" y="5012280"/>
            <a:ext cx="8903880" cy="461880"/>
          </a:xfrm>
          <a:prstGeom prst="roundRect">
            <a:avLst>
              <a:gd name="adj" fmla="val 16667"/>
            </a:avLst>
          </a:prstGeom>
          <a:solidFill>
            <a:srgbClr val="f4f7fb"/>
          </a:solidFill>
          <a:ln w="6350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30600" bIns="30600" anchor="ctr">
            <a:no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Calibri"/>
                <a:ea typeface="Arial"/>
              </a:rPr>
              <a:t>→  </a:t>
            </a:r>
            <a:r>
              <a:rPr lang="en-US" sz="1200" b="1" u="none" strike="noStrike">
                <a:solidFill>
                  <a:srgbClr val="2a9d8f"/>
                </a:solidFill>
                <a:effectLst/>
                <a:uFillTx/>
                <a:latin typeface="Calibri"/>
                <a:ea typeface="Arial"/>
                <a:hlinkClick r:id="rId2"/>
              </a:rPr>
              <a:t>App Link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233;p10"/>
          <p:cNvSpPr/>
          <p:nvPr/>
        </p:nvSpPr>
        <p:spPr>
          <a:xfrm>
            <a:off x="731520" y="731520"/>
            <a:ext cx="10972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Questions?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d7e2f0"/>
                </a:solidFill>
                <a:effectLst/>
                <a:uFillTx/>
                <a:latin typeface="Calibri"/>
                <a:ea typeface="Calibri"/>
              </a:rPr>
              <a:t>Quick recap: containers package apps; Kubernetes orchestrates them at scale.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Google Shape;234;p10"/>
          <p:cNvSpPr/>
          <p:nvPr/>
        </p:nvSpPr>
        <p:spPr>
          <a:xfrm>
            <a:off x="914400" y="2286000"/>
            <a:ext cx="32914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Containerization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Portable, isolated application packaging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Google Shape;235;p10"/>
          <p:cNvSpPr/>
          <p:nvPr/>
        </p:nvSpPr>
        <p:spPr>
          <a:xfrm>
            <a:off x="4663440" y="2286000"/>
            <a:ext cx="32914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Docker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Build and run containers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Google Shape;236;p10"/>
          <p:cNvSpPr/>
          <p:nvPr/>
        </p:nvSpPr>
        <p:spPr>
          <a:xfrm>
            <a:off x="8412480" y="2286000"/>
            <a:ext cx="3291480" cy="1462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6e0e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09800" rIns="109800" tIns="7308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1800" b="1" u="none" strike="noStrike">
                <a:solidFill>
                  <a:srgbClr val="0b1f3b"/>
                </a:solidFill>
                <a:effectLst/>
                <a:uFillTx/>
                <a:latin typeface="Calibri"/>
                <a:ea typeface="Calibri"/>
              </a:rPr>
              <a:t>Kubernetes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601"/>
              </a:spcBef>
              <a:tabLst>
                <a:tab algn="l" pos="0"/>
              </a:tabLst>
            </a:pPr>
            <a:r>
              <a:rPr lang="en-US" sz="1500" b="0" u="none" strike="noStrike">
                <a:solidFill>
                  <a:srgbClr val="222831"/>
                </a:solidFill>
                <a:effectLst/>
                <a:uFillTx/>
                <a:latin typeface="Calibri"/>
                <a:ea typeface="Calibri"/>
              </a:rPr>
              <a:t>Schedule, scale, heal, and update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Google Shape;237;p10"/>
          <p:cNvSpPr/>
          <p:nvPr/>
        </p:nvSpPr>
        <p:spPr>
          <a:xfrm>
            <a:off x="914400" y="4572000"/>
            <a:ext cx="103323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Thank you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Google Shape;238;p10"/>
          <p:cNvSpPr/>
          <p:nvPr/>
        </p:nvSpPr>
        <p:spPr>
          <a:xfrm>
            <a:off x="0" y="6537960"/>
            <a:ext cx="12191400" cy="319680"/>
          </a:xfrm>
          <a:prstGeom prst="rect">
            <a:avLst/>
          </a:prstGeom>
          <a:solidFill>
            <a:srgbClr val="0b1f3b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Google Shape;239;p10"/>
          <p:cNvSpPr/>
          <p:nvPr/>
        </p:nvSpPr>
        <p:spPr>
          <a:xfrm>
            <a:off x="457200" y="6556320"/>
            <a:ext cx="91436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lang="en-US" sz="900" b="0" u="none" strike="noStrike">
                <a:solidFill>
                  <a:srgbClr val="dce6f0"/>
                </a:solidFill>
                <a:effectLst/>
                <a:uFillTx/>
                <a:latin typeface="Calibri"/>
                <a:ea typeface="Calibri"/>
              </a:rPr>
              <a:t>Kubernetes presentation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LibreOffice/25.8.7.3$Linux_X86_64 LibreOffice_project/580$Build-3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en-US</dc:language>
  <cp:lastModifiedBy/>
  <dcterms:modified xsi:type="dcterms:W3CDTF">2026-06-05T20:21:32Z</dcterms:modified>
  <cp:revision>1</cp:revision>
  <dc:subject/>
  <dc:title/>
</cp:coreProperties>
</file>